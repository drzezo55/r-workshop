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81"/>
    <p:restoredTop sz="94638"/>
  </p:normalViewPr>
  <p:slideViewPr>
    <p:cSldViewPr snapToGrid="0">
      <p:cViewPr varScale="1">
        <p:scale>
          <a:sx n="116" d="100"/>
          <a:sy n="116" d="100"/>
        </p:scale>
        <p:origin x="20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A3DC7-7033-1EC2-C7A9-CB49AD9F5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71C1D5-B1FE-0C0D-5A3F-85965F38F6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DA879-63A4-7B19-C4AE-E2D3EF0D4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7636D-DA2C-C847-A254-400164ECB44B}" type="datetimeFigureOut">
              <a:rPr lang="en-EG" smtClean="0"/>
              <a:t>03/12/2025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E0395-13F1-398B-0AA8-1689D285E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00938-876E-5AA0-53A2-417E9D6D0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E8F3-1183-E148-B60A-3D43B1587A1A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208909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148D3-8CC5-ACFC-4E23-24EA514AE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FED38-0236-4F8A-6EC3-73FB2983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07994-1E58-F903-A174-BD15DEC37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7636D-DA2C-C847-A254-400164ECB44B}" type="datetimeFigureOut">
              <a:rPr lang="en-EG" smtClean="0"/>
              <a:t>03/12/2025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DFF18-3828-4457-6074-6361EEAA7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63784-A502-D3B8-F9EF-5F35C2E3E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E8F3-1183-E148-B60A-3D43B1587A1A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91423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59750-9659-334E-F15D-16B35A42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5FBF3-229E-31D5-F1B3-7C5F2BB7D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59F1F-01E0-7CDD-EBF4-6FEB07FB4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7636D-DA2C-C847-A254-400164ECB44B}" type="datetimeFigureOut">
              <a:rPr lang="en-EG" smtClean="0"/>
              <a:t>03/12/2025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153A5-1435-9C77-682E-746D8134C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5EE46-7E9D-42BC-AB1A-D76FB6CA9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E8F3-1183-E148-B60A-3D43B1587A1A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682181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1078-AA0E-68C5-DBDB-0208A089D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E0B21-EEE7-45F5-46BD-70F2408FA1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25663-F99B-2158-F9FA-D5F53CF73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52524-599E-C81F-D0ED-FEDC63B35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7636D-DA2C-C847-A254-400164ECB44B}" type="datetimeFigureOut">
              <a:rPr lang="en-EG" smtClean="0"/>
              <a:t>03/12/2025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D1225-849C-7863-81C5-3C5100A11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9ED2A-DCF3-8498-34CA-C7C929BAC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E8F3-1183-E148-B60A-3D43B1587A1A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33047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BAEF5-C2A4-E82D-49A2-3FEE6C36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F97CC-B119-A1FC-DDD9-DB67F0177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56811C-7073-CE98-6994-E130F51871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F7FEAE-656B-6192-91D1-2DE4EAB2A5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20A304-6E7E-1AB0-1394-5831815E1B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508B4A-2FF7-EC26-4339-4CEBE3152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7636D-DA2C-C847-A254-400164ECB44B}" type="datetimeFigureOut">
              <a:rPr lang="en-EG" smtClean="0"/>
              <a:t>03/12/2025</a:t>
            </a:fld>
            <a:endParaRPr lang="en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4958D6-B16C-B1A3-2EDC-4630C4D04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9A64EA-5266-8FBB-09EB-C210564B5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E8F3-1183-E148-B60A-3D43B1587A1A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004824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41269-29E6-E199-7433-137B371B4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560EC1-C7E4-678A-6ABF-7BFC98EDD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7636D-DA2C-C847-A254-400164ECB44B}" type="datetimeFigureOut">
              <a:rPr lang="en-EG" smtClean="0"/>
              <a:t>03/12/2025</a:t>
            </a:fld>
            <a:endParaRPr lang="en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63004F-3311-3296-6EEC-A61149B63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B93DD6-4224-361A-1B9A-92E8045B5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E8F3-1183-E148-B60A-3D43B1587A1A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660265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3A3E39-6789-CA3E-A22D-790E7F02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7636D-DA2C-C847-A254-400164ECB44B}" type="datetimeFigureOut">
              <a:rPr lang="en-EG" smtClean="0"/>
              <a:t>03/12/2025</a:t>
            </a:fld>
            <a:endParaRPr lang="en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D82605-2DD1-56DC-3AAA-CF9DA0B2D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1D77F-FA4B-8E87-2990-CDAACDC3B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E8F3-1183-E148-B60A-3D43B1587A1A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521458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F892D-C4A5-87AB-097E-32AE9B188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64E9B-3965-B7FA-5195-3C2740F0A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9E2A62-97C8-1D49-6918-A43084757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14136-96C2-8943-82A6-8D94711DF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7636D-DA2C-C847-A254-400164ECB44B}" type="datetimeFigureOut">
              <a:rPr lang="en-EG" smtClean="0"/>
              <a:t>03/12/2025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C23CF6-EFD6-E054-EA5F-A3A00B51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AB832A-CD37-74B8-9C9D-99D1E78AE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E8F3-1183-E148-B60A-3D43B1587A1A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86268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8BAC3-5177-1C96-D37B-0A66A5E26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B03500-3AD6-3A78-E2E3-6357D2FDB4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264F5C-77DB-0F0E-7BD5-325C8277D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176CE-23DF-8094-C07C-21C72B3EE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7636D-DA2C-C847-A254-400164ECB44B}" type="datetimeFigureOut">
              <a:rPr lang="en-EG" smtClean="0"/>
              <a:t>03/12/2025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3FE662-BF33-ADA8-24C0-620C3ACA1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2C4D1-5773-20E1-DAC3-B07ACAD03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E8F3-1183-E148-B60A-3D43B1587A1A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25140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F54E-1D71-009D-A4E5-37693FBD8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D2574-969F-884C-7596-5E4922ADE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C6792-5051-7ED2-9C6B-B458EEB09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7636D-DA2C-C847-A254-400164ECB44B}" type="datetimeFigureOut">
              <a:rPr lang="en-EG" smtClean="0"/>
              <a:t>03/12/2025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05DF5-3AC6-FAA7-9F05-27F9A2261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91FF4-C9E0-71CF-E54C-9A405AFA8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E8F3-1183-E148-B60A-3D43B1587A1A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886991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960FA5-87F4-7E71-D93A-8B7E684FC8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156D25-D8FC-7B4F-3BC9-DFF2BB997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3A15E-F66F-7F96-D20B-C1DB0D21E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7636D-DA2C-C847-A254-400164ECB44B}" type="datetimeFigureOut">
              <a:rPr lang="en-EG" smtClean="0"/>
              <a:t>03/12/2025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5D20A-AA93-54DA-7FC2-3361FAB9A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27FBD-1EC3-7EE4-E0B2-4FF583384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E8F3-1183-E148-B60A-3D43B1587A1A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712094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1692DA-BF86-8335-CB60-33C5F149B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A492C-B989-1B6F-083A-E6C3BFF9F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30C2E-9240-4F2F-D6BA-499D7DF82D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17636D-DA2C-C847-A254-400164ECB44B}" type="datetimeFigureOut">
              <a:rPr lang="en-EG" smtClean="0"/>
              <a:t>03/12/2025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699D8-5400-8EEB-F467-8CBBC4681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8CDFC-7E92-E8FD-3740-19C194ED36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24E8F3-1183-E148-B60A-3D43B1587A1A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103549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5ED81-7844-182B-8721-FE0B87B88E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16193"/>
            <a:ext cx="9144000" cy="4100051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EG" dirty="0">
                <a:latin typeface="Calisto MT" panose="02040603050505030304" pitchFamily="18" charset="77"/>
              </a:rPr>
              <a:t>Meta-analysis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53C768-3F71-1077-1D77-46A43260B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9393"/>
            <a:ext cx="9144000" cy="896220"/>
          </a:xfrm>
          <a:noFill/>
          <a:ln>
            <a:solidFill>
              <a:schemeClr val="accent1"/>
            </a:solidFill>
          </a:ln>
          <a:effectLst>
            <a:outerShdw blurRad="50800" dist="38100" dir="8100000" algn="tr" rotWithShape="0">
              <a:srgbClr val="FF0000">
                <a:alpha val="40000"/>
              </a:srgbClr>
            </a:outerShdw>
          </a:effectLst>
        </p:spPr>
        <p:txBody>
          <a:bodyPr>
            <a:normAutofit fontScale="55000" lnSpcReduction="20000"/>
          </a:bodyPr>
          <a:lstStyle/>
          <a:p>
            <a:r>
              <a:rPr lang="en-EG" sz="6600" dirty="0">
                <a:effectLst>
                  <a:outerShdw blurRad="50800" dist="38100" dir="8100000" algn="tr" rotWithShape="0">
                    <a:schemeClr val="tx2">
                      <a:alpha val="40000"/>
                    </a:schemeClr>
                  </a:outerShdw>
                </a:effectLst>
                <a:latin typeface="Calisto MT" panose="02040603050505030304" pitchFamily="18" charset="77"/>
              </a:rPr>
              <a:t>ABDELAZIZ AWAD</a:t>
            </a:r>
            <a:br>
              <a:rPr lang="en-EG" sz="6600" dirty="0">
                <a:effectLst>
                  <a:outerShdw blurRad="50800" dist="38100" dir="8100000" algn="tr" rotWithShape="0">
                    <a:schemeClr val="tx2">
                      <a:alpha val="40000"/>
                    </a:schemeClr>
                  </a:outerShdw>
                </a:effectLst>
                <a:latin typeface="Calisto MT" panose="02040603050505030304" pitchFamily="18" charset="77"/>
              </a:rPr>
            </a:br>
            <a:endParaRPr lang="en-EG" sz="6600" dirty="0">
              <a:effectLst>
                <a:outerShdw blurRad="50800" dist="38100" dir="8100000" algn="tr" rotWithShape="0">
                  <a:schemeClr val="tx2">
                    <a:alpha val="40000"/>
                  </a:schemeClr>
                </a:outerShdw>
              </a:effectLst>
              <a:latin typeface="Calisto MT" panose="020406030505050303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15081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8C40B-C6F3-2976-0319-3C1717372D27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bg1"/>
            </a:solidFill>
          </a:ln>
        </p:spPr>
        <p:txBody>
          <a:bodyPr/>
          <a:lstStyle/>
          <a:p>
            <a:r>
              <a:rPr lang="en-EG" dirty="0">
                <a:latin typeface="Calisto MT" panose="02040603050505030304" pitchFamily="18" charset="77"/>
              </a:rPr>
              <a:t>Pre-analysis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3D889-EE5D-CCD0-7627-040E21B55CAF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EG" dirty="0">
                <a:latin typeface="Calisto MT" panose="02040603050505030304" pitchFamily="18" charset="77"/>
              </a:rPr>
              <a:t>Check your data well before starting the analysis stage.</a:t>
            </a:r>
          </a:p>
          <a:p>
            <a:r>
              <a:rPr lang="en-EG" dirty="0">
                <a:latin typeface="Calisto MT" panose="02040603050505030304" pitchFamily="18" charset="77"/>
              </a:rPr>
              <a:t>Do the numbers make sense? (values with respect to conext and units)</a:t>
            </a:r>
          </a:p>
          <a:p>
            <a:r>
              <a:rPr lang="en-EG" dirty="0">
                <a:latin typeface="Calisto MT" panose="02040603050505030304" pitchFamily="18" charset="77"/>
              </a:rPr>
              <a:t>Check your variable names.</a:t>
            </a:r>
          </a:p>
          <a:p>
            <a:r>
              <a:rPr lang="en-EG" dirty="0">
                <a:latin typeface="Calisto MT" panose="02040603050505030304" pitchFamily="18" charset="77"/>
              </a:rPr>
              <a:t>Check for the decimal points.</a:t>
            </a:r>
          </a:p>
          <a:p>
            <a:pPr marL="0" indent="0">
              <a:buNone/>
            </a:pP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4036666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BBB50-B794-126A-32D1-FC304E695DCC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txBody>
          <a:bodyPr/>
          <a:lstStyle/>
          <a:p>
            <a:r>
              <a:rPr lang="en-EG" dirty="0">
                <a:latin typeface="Calisto MT" panose="02040603050505030304" pitchFamily="18" charset="77"/>
              </a:rPr>
              <a:t>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693E0-ADE4-43CC-DAFA-C2E94AC61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647" y="1825625"/>
            <a:ext cx="10515600" cy="4351338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>
                <a:latin typeface="Calisto MT" panose="02040603050505030304" pitchFamily="18" charset="77"/>
              </a:rPr>
              <a:t>I</a:t>
            </a:r>
            <a:r>
              <a:rPr lang="en-EG" dirty="0">
                <a:latin typeface="Calisto MT" panose="02040603050505030304" pitchFamily="18" charset="77"/>
              </a:rPr>
              <a:t>nstall the required packages.</a:t>
            </a:r>
          </a:p>
          <a:p>
            <a:r>
              <a:rPr lang="en-EG" dirty="0">
                <a:latin typeface="Calisto MT" panose="02040603050505030304" pitchFamily="18" charset="77"/>
              </a:rPr>
              <a:t>Load the required libraries.</a:t>
            </a:r>
          </a:p>
          <a:p>
            <a:r>
              <a:rPr lang="en-US" dirty="0">
                <a:latin typeface="Calisto MT" panose="02040603050505030304" pitchFamily="18" charset="77"/>
              </a:rPr>
              <a:t>F</a:t>
            </a:r>
            <a:r>
              <a:rPr lang="en-EG" dirty="0">
                <a:latin typeface="Calisto MT" panose="02040603050505030304" pitchFamily="18" charset="77"/>
              </a:rPr>
              <a:t>ill the pre-built functions with your variables.</a:t>
            </a:r>
          </a:p>
          <a:p>
            <a:r>
              <a:rPr lang="en-US" dirty="0">
                <a:latin typeface="Calisto MT" panose="02040603050505030304" pitchFamily="18" charset="77"/>
              </a:rPr>
              <a:t>C</a:t>
            </a:r>
            <a:r>
              <a:rPr lang="en-EG" dirty="0">
                <a:latin typeface="Calisto MT" panose="02040603050505030304" pitchFamily="18" charset="77"/>
              </a:rPr>
              <a:t>heck the analysis results before proceeding to the </a:t>
            </a:r>
          </a:p>
          <a:p>
            <a:pPr marL="0" indent="0">
              <a:buNone/>
            </a:pPr>
            <a:r>
              <a:rPr lang="en-US" dirty="0">
                <a:latin typeface="Calisto MT" panose="02040603050505030304" pitchFamily="18" charset="77"/>
              </a:rPr>
              <a:t>visualization</a:t>
            </a:r>
            <a:r>
              <a:rPr lang="en-EG" dirty="0">
                <a:latin typeface="Calisto MT" panose="02040603050505030304" pitchFamily="18" charset="77"/>
              </a:rPr>
              <a:t> step.</a:t>
            </a:r>
          </a:p>
          <a:p>
            <a:r>
              <a:rPr lang="en-EG" dirty="0">
                <a:latin typeface="Calisto MT" panose="02040603050505030304" pitchFamily="18" charset="77"/>
              </a:rPr>
              <a:t>Decide whether to proceed with fixed or random effects model according to the heterogeneity metrics (I</a:t>
            </a:r>
            <a:r>
              <a:rPr lang="en-EG" baseline="30000" dirty="0">
                <a:latin typeface="Calisto MT" panose="02040603050505030304" pitchFamily="18" charset="77"/>
              </a:rPr>
              <a:t>2</a:t>
            </a:r>
            <a:r>
              <a:rPr lang="en-EG" dirty="0">
                <a:latin typeface="Calisto MT" panose="02040603050505030304" pitchFamily="18" charset="77"/>
              </a:rPr>
              <a:t> values).</a:t>
            </a:r>
          </a:p>
          <a:p>
            <a:r>
              <a:rPr lang="en-EG" dirty="0">
                <a:latin typeface="Calisto MT" panose="02040603050505030304" pitchFamily="18" charset="77"/>
              </a:rPr>
              <a:t>Check your data again if the results do not make sense to you.</a:t>
            </a:r>
          </a:p>
          <a:p>
            <a:pPr marL="0" indent="0">
              <a:buNone/>
            </a:pPr>
            <a:endParaRPr lang="en-EG" dirty="0">
              <a:latin typeface="Calisto MT" panose="02040603050505030304" pitchFamily="18" charset="77"/>
            </a:endParaRPr>
          </a:p>
          <a:p>
            <a:pPr marL="0" indent="0">
              <a:buNone/>
            </a:pPr>
            <a:endParaRPr lang="en-EG" dirty="0"/>
          </a:p>
          <a:p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938649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4282E-1E49-0931-2C24-53488EA0C14B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txBody>
          <a:bodyPr/>
          <a:lstStyle/>
          <a:p>
            <a:r>
              <a:rPr lang="en-EG" dirty="0">
                <a:latin typeface="Calisto MT" panose="02040603050505030304" pitchFamily="18" charset="77"/>
              </a:rPr>
              <a:t>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CD554-5046-79A9-C2BB-0A26A002A2CF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EG" dirty="0">
                <a:latin typeface="Calisto MT" panose="02040603050505030304" pitchFamily="18" charset="77"/>
              </a:rPr>
              <a:t>Start with a basic plot</a:t>
            </a:r>
          </a:p>
          <a:p>
            <a:pPr>
              <a:buFont typeface="Wingdings" pitchFamily="2" charset="2"/>
              <a:buChar char="ü"/>
            </a:pPr>
            <a:r>
              <a:rPr lang="en-EG" dirty="0">
                <a:latin typeface="Calisto MT" panose="02040603050505030304" pitchFamily="18" charset="77"/>
              </a:rPr>
              <a:t>Adjust the columns names, study representation, </a:t>
            </a:r>
          </a:p>
          <a:p>
            <a:pPr marL="0" indent="0">
              <a:buNone/>
            </a:pPr>
            <a:r>
              <a:rPr lang="en-US" dirty="0">
                <a:latin typeface="Calisto MT" panose="02040603050505030304" pitchFamily="18" charset="77"/>
              </a:rPr>
              <a:t>colors.</a:t>
            </a:r>
          </a:p>
          <a:p>
            <a:pPr>
              <a:buFont typeface="Wingdings" pitchFamily="2" charset="2"/>
              <a:buChar char="ü"/>
            </a:pPr>
            <a:r>
              <a:rPr lang="en-EG" dirty="0">
                <a:latin typeface="Calisto MT" panose="02040603050505030304" pitchFamily="18" charset="77"/>
              </a:rPr>
              <a:t>Save directly to the device if the plot is too heigh.</a:t>
            </a:r>
          </a:p>
          <a:p>
            <a:pPr marL="0" indent="0">
              <a:buNone/>
            </a:pPr>
            <a:endParaRPr lang="en-EG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74DFA13-BA78-F6BA-90EB-362F45F397F0}"/>
              </a:ext>
            </a:extLst>
          </p:cNvPr>
          <p:cNvCxnSpPr/>
          <p:nvPr/>
        </p:nvCxnSpPr>
        <p:spPr>
          <a:xfrm>
            <a:off x="9977719" y="2164976"/>
            <a:ext cx="0" cy="18825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EE8707-8979-DA6C-F5E6-2821C95391FE}"/>
              </a:ext>
            </a:extLst>
          </p:cNvPr>
          <p:cNvCxnSpPr>
            <a:cxnSpLocks/>
          </p:cNvCxnSpPr>
          <p:nvPr/>
        </p:nvCxnSpPr>
        <p:spPr>
          <a:xfrm flipH="1">
            <a:off x="9085731" y="4047565"/>
            <a:ext cx="20663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1A4C7B7-812C-35E8-1DE8-7E4626125987}"/>
              </a:ext>
            </a:extLst>
          </p:cNvPr>
          <p:cNvCxnSpPr/>
          <p:nvPr/>
        </p:nvCxnSpPr>
        <p:spPr>
          <a:xfrm>
            <a:off x="9695331" y="2796987"/>
            <a:ext cx="5782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7D6E286-BA86-EF40-1B1D-745F59F57975}"/>
              </a:ext>
            </a:extLst>
          </p:cNvPr>
          <p:cNvCxnSpPr/>
          <p:nvPr/>
        </p:nvCxnSpPr>
        <p:spPr>
          <a:xfrm>
            <a:off x="9847731" y="2949387"/>
            <a:ext cx="5782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0DB691-FB11-4F4D-DBE0-E826138FF57E}"/>
              </a:ext>
            </a:extLst>
          </p:cNvPr>
          <p:cNvCxnSpPr/>
          <p:nvPr/>
        </p:nvCxnSpPr>
        <p:spPr>
          <a:xfrm>
            <a:off x="10000131" y="3101787"/>
            <a:ext cx="5782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EAEE1E-8AAD-AA38-A45B-61395FE04C91}"/>
              </a:ext>
            </a:extLst>
          </p:cNvPr>
          <p:cNvCxnSpPr/>
          <p:nvPr/>
        </p:nvCxnSpPr>
        <p:spPr>
          <a:xfrm>
            <a:off x="10152531" y="3254187"/>
            <a:ext cx="5782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45A2E1A-ADAD-E810-1BE8-254BF3D6026E}"/>
              </a:ext>
            </a:extLst>
          </p:cNvPr>
          <p:cNvCxnSpPr/>
          <p:nvPr/>
        </p:nvCxnSpPr>
        <p:spPr>
          <a:xfrm>
            <a:off x="10304931" y="3406587"/>
            <a:ext cx="5782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31C44A-3C91-FED8-724E-942EE93E958B}"/>
              </a:ext>
            </a:extLst>
          </p:cNvPr>
          <p:cNvCxnSpPr/>
          <p:nvPr/>
        </p:nvCxnSpPr>
        <p:spPr>
          <a:xfrm>
            <a:off x="10457331" y="3558987"/>
            <a:ext cx="5782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C31655-54D5-A930-4F0A-978FA3DCA89E}"/>
              </a:ext>
            </a:extLst>
          </p:cNvPr>
          <p:cNvCxnSpPr/>
          <p:nvPr/>
        </p:nvCxnSpPr>
        <p:spPr>
          <a:xfrm>
            <a:off x="9511554" y="2649071"/>
            <a:ext cx="5782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iamond 12">
            <a:extLst>
              <a:ext uri="{FF2B5EF4-FFF2-40B4-BE49-F238E27FC236}">
                <a16:creationId xmlns:a16="http://schemas.microsoft.com/office/drawing/2014/main" id="{555E3F81-F24B-0C23-357F-022D92622D0D}"/>
              </a:ext>
            </a:extLst>
          </p:cNvPr>
          <p:cNvSpPr/>
          <p:nvPr/>
        </p:nvSpPr>
        <p:spPr>
          <a:xfrm>
            <a:off x="10071850" y="3709145"/>
            <a:ext cx="233082" cy="132234"/>
          </a:xfrm>
          <a:prstGeom prst="diamond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9D3972-6D29-5D80-FE6D-8D7923A2EDB0}"/>
              </a:ext>
            </a:extLst>
          </p:cNvPr>
          <p:cNvSpPr/>
          <p:nvPr/>
        </p:nvSpPr>
        <p:spPr>
          <a:xfrm flipH="1" flipV="1">
            <a:off x="9761222" y="2597523"/>
            <a:ext cx="88750" cy="941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7861E0-0C20-2D52-4971-7E38853CFA13}"/>
              </a:ext>
            </a:extLst>
          </p:cNvPr>
          <p:cNvSpPr/>
          <p:nvPr/>
        </p:nvSpPr>
        <p:spPr>
          <a:xfrm flipH="1" flipV="1">
            <a:off x="9913622" y="2749923"/>
            <a:ext cx="88750" cy="941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261242-7C4A-995C-954B-D5B344120DAA}"/>
              </a:ext>
            </a:extLst>
          </p:cNvPr>
          <p:cNvSpPr/>
          <p:nvPr/>
        </p:nvSpPr>
        <p:spPr>
          <a:xfrm flipH="1" flipV="1">
            <a:off x="10066022" y="2902323"/>
            <a:ext cx="88750" cy="941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6E4233-101D-22FA-0731-3DC7F99D6D59}"/>
              </a:ext>
            </a:extLst>
          </p:cNvPr>
          <p:cNvSpPr/>
          <p:nvPr/>
        </p:nvSpPr>
        <p:spPr>
          <a:xfrm flipH="1" flipV="1">
            <a:off x="10218422" y="3054723"/>
            <a:ext cx="88750" cy="941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28EDE8-0246-8522-11B6-286F9DAF2ED5}"/>
              </a:ext>
            </a:extLst>
          </p:cNvPr>
          <p:cNvSpPr/>
          <p:nvPr/>
        </p:nvSpPr>
        <p:spPr>
          <a:xfrm flipH="1" flipV="1">
            <a:off x="10370822" y="3207123"/>
            <a:ext cx="88750" cy="941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98E274-A9F7-1E3C-B65C-2CD5613E119B}"/>
              </a:ext>
            </a:extLst>
          </p:cNvPr>
          <p:cNvSpPr/>
          <p:nvPr/>
        </p:nvSpPr>
        <p:spPr>
          <a:xfrm flipH="1" flipV="1">
            <a:off x="10523222" y="3359523"/>
            <a:ext cx="88750" cy="941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DF8587-D538-98D3-58DB-36A0601750BD}"/>
              </a:ext>
            </a:extLst>
          </p:cNvPr>
          <p:cNvSpPr/>
          <p:nvPr/>
        </p:nvSpPr>
        <p:spPr>
          <a:xfrm flipH="1" flipV="1">
            <a:off x="10675622" y="3511923"/>
            <a:ext cx="88750" cy="941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27EDF8-613F-3BB9-AA01-3EB59B03FCBC}"/>
              </a:ext>
            </a:extLst>
          </p:cNvPr>
          <p:cNvCxnSpPr/>
          <p:nvPr/>
        </p:nvCxnSpPr>
        <p:spPr>
          <a:xfrm>
            <a:off x="9910483" y="3926540"/>
            <a:ext cx="57822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7570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E9FA2-7B5C-4CC4-1A40-C18B13D1CFAC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txBody>
          <a:bodyPr/>
          <a:lstStyle/>
          <a:p>
            <a:r>
              <a:rPr lang="en-EG" dirty="0">
                <a:latin typeface="Calisto MT" panose="02040603050505030304" pitchFamily="18" charset="77"/>
              </a:rPr>
              <a:t>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7BC54-17BA-9D2C-DBF7-25F8808E5B80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EG" dirty="0">
                <a:latin typeface="Calisto MT" panose="02040603050505030304" pitchFamily="18" charset="77"/>
              </a:rPr>
              <a:t>Leave-one-out analysis should be done whether there is a heterogeneity or not.</a:t>
            </a:r>
          </a:p>
          <a:p>
            <a:r>
              <a:rPr lang="en-EG" dirty="0">
                <a:latin typeface="Calisto MT" panose="02040603050505030304" pitchFamily="18" charset="77"/>
              </a:rPr>
              <a:t>Do a publication bias assessement using the suitable method either funnel or DOI plot.</a:t>
            </a:r>
          </a:p>
          <a:p>
            <a:r>
              <a:rPr lang="en-EG" dirty="0">
                <a:latin typeface="Calisto MT" panose="02040603050505030304" pitchFamily="18" charset="77"/>
              </a:rPr>
              <a:t>Consider subgroup analysis whenever possible.</a:t>
            </a:r>
          </a:p>
          <a:p>
            <a:r>
              <a:rPr lang="en-EG" dirty="0">
                <a:latin typeface="Calisto MT" panose="02040603050505030304" pitchFamily="18" charset="77"/>
              </a:rPr>
              <a:t>Never trust the data extraction sheet.</a:t>
            </a:r>
          </a:p>
          <a:p>
            <a:r>
              <a:rPr lang="en-EG">
                <a:latin typeface="Calisto MT" panose="02040603050505030304" pitchFamily="18" charset="77"/>
              </a:rPr>
              <a:t>Be careful about the model you choose and effect sizes.</a:t>
            </a:r>
            <a:endParaRPr lang="en-EG" dirty="0">
              <a:latin typeface="Calisto MT" panose="020406030505050303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19649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190</Words>
  <Application>Microsoft Macintosh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Calisto MT</vt:lpstr>
      <vt:lpstr>Wingdings</vt:lpstr>
      <vt:lpstr>Office Theme</vt:lpstr>
      <vt:lpstr>Meta-analysis in R</vt:lpstr>
      <vt:lpstr>Pre-analysis</vt:lpstr>
      <vt:lpstr>Analysis </vt:lpstr>
      <vt:lpstr>Visualization</vt:lpstr>
      <vt:lpstr>Tips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'Ahmed mohamed Elsayed mohamed anany'</dc:creator>
  <cp:lastModifiedBy>'Ahmed mohamed Elsayed mohamed anany'</cp:lastModifiedBy>
  <cp:revision>6</cp:revision>
  <dcterms:created xsi:type="dcterms:W3CDTF">2025-12-03T10:45:35Z</dcterms:created>
  <dcterms:modified xsi:type="dcterms:W3CDTF">2025-12-03T16:24:53Z</dcterms:modified>
</cp:coreProperties>
</file>